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58" r:id="rId4"/>
    <p:sldId id="259" r:id="rId5"/>
    <p:sldId id="260" r:id="rId6"/>
    <p:sldId id="261" r:id="rId7"/>
    <p:sldId id="262" r:id="rId8"/>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38"/>
  </p:normalViewPr>
  <p:slideViewPr>
    <p:cSldViewPr snapToGrid="0">
      <p:cViewPr varScale="1">
        <p:scale>
          <a:sx n="126" d="100"/>
          <a:sy n="126" d="100"/>
        </p:scale>
        <p:origin x="232"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710A-8971-B528-6772-C0F77B4D3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D1FFB3EE-D16E-EA5C-4EFF-57A169BAD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D144961F-A169-ACB5-9766-1660093F4E4A}"/>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6B916B36-E774-14C6-08C1-4FB0B800C38F}"/>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3E9CD20-A0F4-98DD-D95F-9CA5E027CC74}"/>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245281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37C33-6B22-B143-6217-5F39817757AD}"/>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521BC297-D8D4-01EE-EF54-1408438706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1BA67370-4650-6E4F-BFC2-EC7100E78C9E}"/>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2553A12F-00C5-7050-45DE-B0AFCA8978E0}"/>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9F47FAA-313F-9C12-5B38-7830D0C07E04}"/>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165604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67921-B741-8269-064F-D6DAA4FEA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E4053A85-30AD-5694-D821-9228384CEB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2BCCF9-E681-2D07-67F5-A0648E9F94C7}"/>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B432FD2C-55EE-8D34-D8C1-B54D4081AC59}"/>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A40811A9-673E-FE8E-CA72-F3F0A0A97B3B}"/>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863055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454E-C680-A70B-3319-D58201CEEC39}"/>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E6043AC2-C52A-9B07-DBA7-C83188C5DD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6B35F0FE-1F44-4EB3-7752-C4837F5D98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E452FFE9-5207-783B-BAF2-3C2AA7996ADE}"/>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6" name="Footer Placeholder 5">
            <a:extLst>
              <a:ext uri="{FF2B5EF4-FFF2-40B4-BE49-F238E27FC236}">
                <a16:creationId xmlns:a16="http://schemas.microsoft.com/office/drawing/2014/main" id="{7BF57F21-61CC-A578-8B18-4B157037445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CA23FB0B-C0F0-8CFE-6B72-26BF5092C038}"/>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331409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6299-5C81-4366-BCF2-2053F9F64BF7}"/>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AD806DB6-CE42-959F-7191-DADECF0DA1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127614-AE7F-884C-B7D7-D938960966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4F89B1BE-6C7C-CD13-B6E9-26E55597D2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52C6CC-C9FB-1BBF-34B3-15F7407EB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B5E21C8D-8010-6221-4668-13B4D5B727AC}"/>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8" name="Footer Placeholder 7">
            <a:extLst>
              <a:ext uri="{FF2B5EF4-FFF2-40B4-BE49-F238E27FC236}">
                <a16:creationId xmlns:a16="http://schemas.microsoft.com/office/drawing/2014/main" id="{0C4F156A-15F4-CCB2-6478-E0EAD88517CC}"/>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6DC6A1D0-E1D6-1E10-D9BB-E945A595A4CD}"/>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1821214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D997-B054-4DEC-6F2A-69D5913DBB6B}"/>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B9439292-4B70-6BFD-DB6E-B8F1200542CD}"/>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4" name="Footer Placeholder 3">
            <a:extLst>
              <a:ext uri="{FF2B5EF4-FFF2-40B4-BE49-F238E27FC236}">
                <a16:creationId xmlns:a16="http://schemas.microsoft.com/office/drawing/2014/main" id="{3AE87410-5231-860F-7F1B-291F0DA66E7F}"/>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A564D2AE-C7E2-9DAC-9C27-A849548C4CD2}"/>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3850785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CBB5D1-F510-CE94-80FF-5A7D000329BE}"/>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3" name="Footer Placeholder 2">
            <a:extLst>
              <a:ext uri="{FF2B5EF4-FFF2-40B4-BE49-F238E27FC236}">
                <a16:creationId xmlns:a16="http://schemas.microsoft.com/office/drawing/2014/main" id="{460D6F40-346A-BD71-CB85-2698F034D244}"/>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957B117B-F293-7648-6154-39F0C5583BFE}"/>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42287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6CABF-E983-BCDF-DDF5-63E53E4BA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8C96EF10-783A-06E9-6C25-98561B7878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49B2713C-612E-67D2-7F44-79BF1AB48F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C53C1A-5F48-A507-96D8-737BAA74D163}"/>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6" name="Footer Placeholder 5">
            <a:extLst>
              <a:ext uri="{FF2B5EF4-FFF2-40B4-BE49-F238E27FC236}">
                <a16:creationId xmlns:a16="http://schemas.microsoft.com/office/drawing/2014/main" id="{91FC6EB7-E4B9-0F12-F9CC-2DDC713E5D5C}"/>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BBCDD4EE-D9C7-8EB6-9F3E-FA49FB4B76B3}"/>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628829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F54A0-74A4-9334-C249-3F27322E3B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FB255AE5-3A74-3A8F-F2F8-7085C3FF2D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EA4F7E2D-5C05-BEFC-911A-AEF3736955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255EB-D47F-BDAE-B698-AF57CD07A76C}"/>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6" name="Footer Placeholder 5">
            <a:extLst>
              <a:ext uri="{FF2B5EF4-FFF2-40B4-BE49-F238E27FC236}">
                <a16:creationId xmlns:a16="http://schemas.microsoft.com/office/drawing/2014/main" id="{F86C1A23-BC26-79F3-7A0D-1E54018765B6}"/>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5600784E-C529-C852-1210-4C3828A994AF}"/>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948467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49D7-1B93-E4C9-1E79-56C434AEAFF9}"/>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6387377B-EF19-DCB0-7398-3B46432CA2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063F0E28-6F9C-46F9-038C-D175EBA7EB46}"/>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DAE9C455-478A-C966-E364-110839E5E3D5}"/>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902469CA-4720-9BC4-E721-1C2317F1B336}"/>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1414786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ED6E87-09E9-3DC8-007A-8563692BAD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5629F158-A9C4-D99C-672D-095389BC68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7E228976-B7F5-EB61-EF89-C13F356D616B}"/>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DD6A8231-86F2-D0E6-3558-455607E6B768}"/>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24F36C1B-3326-6DDF-AFE3-AF72B5F5E501}"/>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255094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CE8DB2-227B-BA03-EDF1-6AC479FD8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94B5024D-3370-70FD-BEDF-6F6A1BFA5D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5A1C229B-D885-7029-1F82-5F77AF8AF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D6DF1551-DDC3-0897-523C-DA6708E43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22FE3BBD-158E-CE22-EF11-2E398FD524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E3C341-D9D2-DB45-8ED6-CB866BEC2F25}" type="slidenum">
              <a:rPr lang="en-MX" smtClean="0"/>
              <a:t>‹#›</a:t>
            </a:fld>
            <a:endParaRPr lang="en-MX"/>
          </a:p>
        </p:txBody>
      </p:sp>
    </p:spTree>
    <p:extLst>
      <p:ext uri="{BB962C8B-B14F-4D97-AF65-F5344CB8AC3E}">
        <p14:creationId xmlns:p14="http://schemas.microsoft.com/office/powerpoint/2010/main" val="4065812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F810E-ADC8-D7FF-CABD-3A5E33C3187D}"/>
              </a:ext>
            </a:extLst>
          </p:cNvPr>
          <p:cNvSpPr>
            <a:spLocks noGrp="1"/>
          </p:cNvSpPr>
          <p:nvPr>
            <p:ph type="ctrTitle"/>
          </p:nvPr>
        </p:nvSpPr>
        <p:spPr/>
        <p:txBody>
          <a:bodyPr>
            <a:normAutofit/>
          </a:bodyPr>
          <a:lstStyle/>
          <a:p>
            <a:r>
              <a:rPr lang="en-MX" dirty="0"/>
              <a:t>Group Reflection</a:t>
            </a:r>
            <a:br>
              <a:rPr lang="en-MX" dirty="0"/>
            </a:br>
            <a:r>
              <a:rPr lang="en-MX" sz="3300" dirty="0"/>
              <a:t>Software Construction and Decision Making</a:t>
            </a:r>
          </a:p>
        </p:txBody>
      </p:sp>
      <p:sp>
        <p:nvSpPr>
          <p:cNvPr id="3" name="Subtitle 2">
            <a:extLst>
              <a:ext uri="{FF2B5EF4-FFF2-40B4-BE49-F238E27FC236}">
                <a16:creationId xmlns:a16="http://schemas.microsoft.com/office/drawing/2014/main" id="{03004C13-A1AF-D0E9-F2D8-8BF3459E9AD5}"/>
              </a:ext>
            </a:extLst>
          </p:cNvPr>
          <p:cNvSpPr>
            <a:spLocks noGrp="1"/>
          </p:cNvSpPr>
          <p:nvPr>
            <p:ph type="subTitle" idx="1"/>
          </p:nvPr>
        </p:nvSpPr>
        <p:spPr/>
        <p:txBody>
          <a:bodyPr/>
          <a:lstStyle/>
          <a:p>
            <a:r>
              <a:rPr lang="en-MX" dirty="0"/>
              <a:t>By: Oscar Lara, Emilio Lara, Aixa Mendoza</a:t>
            </a:r>
          </a:p>
          <a:p>
            <a:r>
              <a:rPr lang="en-MX" dirty="0"/>
              <a:t>Project: Velocity Draft</a:t>
            </a:r>
          </a:p>
        </p:txBody>
      </p:sp>
    </p:spTree>
    <p:extLst>
      <p:ext uri="{BB962C8B-B14F-4D97-AF65-F5344CB8AC3E}">
        <p14:creationId xmlns:p14="http://schemas.microsoft.com/office/powerpoint/2010/main" val="4027246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11949-BA89-18F7-E82A-216032FEB00B}"/>
              </a:ext>
            </a:extLst>
          </p:cNvPr>
          <p:cNvSpPr>
            <a:spLocks noGrp="1"/>
          </p:cNvSpPr>
          <p:nvPr>
            <p:ph type="title"/>
          </p:nvPr>
        </p:nvSpPr>
        <p:spPr/>
        <p:txBody>
          <a:bodyPr/>
          <a:lstStyle/>
          <a:p>
            <a:r>
              <a:rPr lang="en-MX" dirty="0"/>
              <a:t>Our Strategy</a:t>
            </a:r>
          </a:p>
        </p:txBody>
      </p:sp>
      <p:sp>
        <p:nvSpPr>
          <p:cNvPr id="3" name="Content Placeholder 2">
            <a:extLst>
              <a:ext uri="{FF2B5EF4-FFF2-40B4-BE49-F238E27FC236}">
                <a16:creationId xmlns:a16="http://schemas.microsoft.com/office/drawing/2014/main" id="{769CAE02-006D-717E-26BB-680592C9E8EC}"/>
              </a:ext>
            </a:extLst>
          </p:cNvPr>
          <p:cNvSpPr>
            <a:spLocks noGrp="1"/>
          </p:cNvSpPr>
          <p:nvPr>
            <p:ph idx="1"/>
          </p:nvPr>
        </p:nvSpPr>
        <p:spPr/>
        <p:txBody>
          <a:bodyPr/>
          <a:lstStyle/>
          <a:p>
            <a:r>
              <a:rPr lang="en-US" dirty="0"/>
              <a:t>During this software construction process, and since our schedule in Tecnológico de Monterrey is managed by weeks, we opted for week-long sprints using the SCRUM methodology. SCRUM is an agile methodology that allows us to be transparent, apply deep and concentrated inspection into the work we are delivering, and adapt to challenges that may arise during the process. This methodology also allows us to have weekly meetings with a product owner (in this case, teachers) to make sure we are advancing at a steady pace, delivering based on how critical the work is, and also correct our path if we </a:t>
            </a:r>
            <a:r>
              <a:rPr lang="en-US" dirty="0" err="1"/>
              <a:t>missailing</a:t>
            </a:r>
            <a:r>
              <a:rPr lang="en-US" dirty="0"/>
              <a:t> from the original idea or from what the product owners want.</a:t>
            </a:r>
          </a:p>
        </p:txBody>
      </p:sp>
    </p:spTree>
    <p:extLst>
      <p:ext uri="{BB962C8B-B14F-4D97-AF65-F5344CB8AC3E}">
        <p14:creationId xmlns:p14="http://schemas.microsoft.com/office/powerpoint/2010/main" val="145895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2BD73-CF0E-DA04-6EAB-591AC6447E5F}"/>
              </a:ext>
            </a:extLst>
          </p:cNvPr>
          <p:cNvSpPr>
            <a:spLocks noGrp="1"/>
          </p:cNvSpPr>
          <p:nvPr>
            <p:ph type="title"/>
          </p:nvPr>
        </p:nvSpPr>
        <p:spPr/>
        <p:txBody>
          <a:bodyPr/>
          <a:lstStyle/>
          <a:p>
            <a:r>
              <a:rPr lang="en-MX" dirty="0"/>
              <a:t>Challenges and how we solved them</a:t>
            </a:r>
          </a:p>
        </p:txBody>
      </p:sp>
      <p:sp>
        <p:nvSpPr>
          <p:cNvPr id="3" name="Content Placeholder 2">
            <a:extLst>
              <a:ext uri="{FF2B5EF4-FFF2-40B4-BE49-F238E27FC236}">
                <a16:creationId xmlns:a16="http://schemas.microsoft.com/office/drawing/2014/main" id="{3805363E-B15D-32E5-7661-CBF5F1D4893D}"/>
              </a:ext>
            </a:extLst>
          </p:cNvPr>
          <p:cNvSpPr>
            <a:spLocks noGrp="1"/>
          </p:cNvSpPr>
          <p:nvPr>
            <p:ph idx="1"/>
          </p:nvPr>
        </p:nvSpPr>
        <p:spPr/>
        <p:txBody>
          <a:bodyPr>
            <a:normAutofit fontScale="85000" lnSpcReduction="20000"/>
          </a:bodyPr>
          <a:lstStyle/>
          <a:p>
            <a:r>
              <a:rPr lang="en-MX" b="1" dirty="0"/>
              <a:t>GitHub organization:</a:t>
            </a:r>
            <a:r>
              <a:rPr lang="en-MX" dirty="0"/>
              <a:t> Early on, issues, branches, and commits were inconsistent. We solved it by establishing naming conventions and assigning specific issues to each member before writing any code.</a:t>
            </a:r>
          </a:p>
          <a:p>
            <a:r>
              <a:rPr lang="en-MX" b="1" dirty="0"/>
              <a:t>Full-stack development from scratch:</a:t>
            </a:r>
            <a:r>
              <a:rPr lang="en-MX" dirty="0"/>
              <a:t> None of us had prior experience connecting a frontend to a REST API backed by a relational database. We tackled it incrementally, schema first, then endpoints, then the frontend consuming the API.</a:t>
            </a:r>
          </a:p>
          <a:p>
            <a:r>
              <a:rPr lang="en-MX" b="1" dirty="0"/>
              <a:t>2.5D Raycasting engine:</a:t>
            </a:r>
            <a:r>
              <a:rPr lang="en-MX" dirty="0"/>
              <a:t> Building the graphics engine from scratch in canvas was the highest technical barrier. We studied the DDA (</a:t>
            </a:r>
            <a:r>
              <a:rPr lang="en-MX" i="1" dirty="0"/>
              <a:t>Digital Differential Analysis)</a:t>
            </a:r>
            <a:r>
              <a:rPr lang="en-MX" dirty="0"/>
              <a:t> raycasting algorithm and extended it to support sprites, multiple sky/floor textures, and weather conditions.</a:t>
            </a:r>
          </a:p>
          <a:p>
            <a:r>
              <a:rPr lang="en-MX" b="1" dirty="0"/>
              <a:t>CPU card AI:</a:t>
            </a:r>
            <a:r>
              <a:rPr lang="en-MX" dirty="0"/>
              <a:t> Making opponents feel meaningfully different required designing a situational decision system. Each personality evaluates distance, position, and health before deciding whether and which card to play.</a:t>
            </a:r>
          </a:p>
          <a:p>
            <a:endParaRPr lang="en-MX" dirty="0"/>
          </a:p>
        </p:txBody>
      </p:sp>
    </p:spTree>
    <p:extLst>
      <p:ext uri="{BB962C8B-B14F-4D97-AF65-F5344CB8AC3E}">
        <p14:creationId xmlns:p14="http://schemas.microsoft.com/office/powerpoint/2010/main" val="343524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E50FE-D362-2F45-8C81-F0F9BFA03800}"/>
              </a:ext>
            </a:extLst>
          </p:cNvPr>
          <p:cNvSpPr>
            <a:spLocks noGrp="1"/>
          </p:cNvSpPr>
          <p:nvPr>
            <p:ph type="title"/>
          </p:nvPr>
        </p:nvSpPr>
        <p:spPr/>
        <p:txBody>
          <a:bodyPr/>
          <a:lstStyle/>
          <a:p>
            <a:r>
              <a:rPr lang="en-MX" dirty="0"/>
              <a:t>Key Lessons Learned	</a:t>
            </a:r>
          </a:p>
        </p:txBody>
      </p:sp>
      <p:sp>
        <p:nvSpPr>
          <p:cNvPr id="3" name="Content Placeholder 2">
            <a:extLst>
              <a:ext uri="{FF2B5EF4-FFF2-40B4-BE49-F238E27FC236}">
                <a16:creationId xmlns:a16="http://schemas.microsoft.com/office/drawing/2014/main" id="{829B2364-F392-E08B-9A55-9E70221BAC05}"/>
              </a:ext>
            </a:extLst>
          </p:cNvPr>
          <p:cNvSpPr>
            <a:spLocks noGrp="1"/>
          </p:cNvSpPr>
          <p:nvPr>
            <p:ph idx="1"/>
          </p:nvPr>
        </p:nvSpPr>
        <p:spPr/>
        <p:txBody>
          <a:bodyPr/>
          <a:lstStyle/>
          <a:p>
            <a:r>
              <a:rPr lang="en-MX" dirty="0"/>
              <a:t>A structured GitHub workflow (issues → branch → merge) dramatically improves coordination even in small teams.</a:t>
            </a:r>
          </a:p>
          <a:p>
            <a:r>
              <a:rPr lang="en-MX" dirty="0"/>
              <a:t>Separating frontend, backend, and database concerns from day one allows parallel development and cleaner code.</a:t>
            </a:r>
          </a:p>
          <a:p>
            <a:r>
              <a:rPr lang="en-MX" dirty="0"/>
              <a:t>Game design and programming constantly feed each other. Ideas on paper always change once you implement them.</a:t>
            </a:r>
          </a:p>
          <a:p>
            <a:r>
              <a:rPr lang="en-MX" dirty="0"/>
              <a:t>Documenting early (GDD, SRS) prevents repeated design discussions during development.</a:t>
            </a:r>
          </a:p>
          <a:p>
            <a:endParaRPr lang="en-MX" dirty="0"/>
          </a:p>
        </p:txBody>
      </p:sp>
    </p:spTree>
    <p:extLst>
      <p:ext uri="{BB962C8B-B14F-4D97-AF65-F5344CB8AC3E}">
        <p14:creationId xmlns:p14="http://schemas.microsoft.com/office/powerpoint/2010/main" val="3922487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FE5C6-44DD-9E30-9639-ABD7E9072AAC}"/>
              </a:ext>
            </a:extLst>
          </p:cNvPr>
          <p:cNvSpPr>
            <a:spLocks noGrp="1"/>
          </p:cNvSpPr>
          <p:nvPr>
            <p:ph type="title"/>
          </p:nvPr>
        </p:nvSpPr>
        <p:spPr/>
        <p:txBody>
          <a:bodyPr/>
          <a:lstStyle/>
          <a:p>
            <a:r>
              <a:rPr lang="en-MX" dirty="0"/>
              <a:t>Individual Reflection – Oscar Lara</a:t>
            </a:r>
          </a:p>
        </p:txBody>
      </p:sp>
      <p:sp>
        <p:nvSpPr>
          <p:cNvPr id="3" name="Content Placeholder 2">
            <a:extLst>
              <a:ext uri="{FF2B5EF4-FFF2-40B4-BE49-F238E27FC236}">
                <a16:creationId xmlns:a16="http://schemas.microsoft.com/office/drawing/2014/main" id="{84FEE44B-7F7F-04E7-0830-8A6FB7712836}"/>
              </a:ext>
            </a:extLst>
          </p:cNvPr>
          <p:cNvSpPr>
            <a:spLocks noGrp="1"/>
          </p:cNvSpPr>
          <p:nvPr>
            <p:ph idx="1"/>
          </p:nvPr>
        </p:nvSpPr>
        <p:spPr/>
        <p:txBody>
          <a:bodyPr/>
          <a:lstStyle/>
          <a:p>
            <a:r>
              <a:rPr lang="en-MX" dirty="0"/>
              <a:t>This project genuinely surprised me with how much mathematics underlies game programming. I had to study new concepts such as Catmull-Rom splines for smooth racing lines, dive deeper into dot and cross products and what they represent for steering and collision detection, or transformation matrices for the raycasting projection, since all of these math concepts are the whole backbone of what makes this game possible. Seeing those mathematical abstractions produce real, visible behavior on screen was one of the most rewarding experiences of the semester.</a:t>
            </a:r>
          </a:p>
        </p:txBody>
      </p:sp>
    </p:spTree>
    <p:extLst>
      <p:ext uri="{BB962C8B-B14F-4D97-AF65-F5344CB8AC3E}">
        <p14:creationId xmlns:p14="http://schemas.microsoft.com/office/powerpoint/2010/main" val="1877441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93021-2496-0A22-4A7D-3F420A308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35569-F214-3333-91FE-8B467603F771}"/>
              </a:ext>
            </a:extLst>
          </p:cNvPr>
          <p:cNvSpPr>
            <a:spLocks noGrp="1"/>
          </p:cNvSpPr>
          <p:nvPr>
            <p:ph type="title"/>
          </p:nvPr>
        </p:nvSpPr>
        <p:spPr/>
        <p:txBody>
          <a:bodyPr/>
          <a:lstStyle/>
          <a:p>
            <a:r>
              <a:rPr lang="en-MX" dirty="0"/>
              <a:t>Individual Reflection – Emilio Lara</a:t>
            </a:r>
          </a:p>
        </p:txBody>
      </p:sp>
      <p:sp>
        <p:nvSpPr>
          <p:cNvPr id="3" name="Content Placeholder 2">
            <a:extLst>
              <a:ext uri="{FF2B5EF4-FFF2-40B4-BE49-F238E27FC236}">
                <a16:creationId xmlns:a16="http://schemas.microsoft.com/office/drawing/2014/main" id="{44A12698-1D58-B349-2146-8969DC11D6C9}"/>
              </a:ext>
            </a:extLst>
          </p:cNvPr>
          <p:cNvSpPr>
            <a:spLocks noGrp="1"/>
          </p:cNvSpPr>
          <p:nvPr>
            <p:ph idx="1"/>
          </p:nvPr>
        </p:nvSpPr>
        <p:spPr/>
        <p:txBody>
          <a:bodyPr/>
          <a:lstStyle/>
          <a:p>
            <a:r>
              <a:rPr lang="en-MX" dirty="0"/>
              <a:t>Working on the backend was a turning point in how I think about software. Designing the database schema, writing stored procedures and triggers, and building REST API endpoints that the frontend could actually consume taught me how the pieces of a real application fit together. Before this project, </a:t>
            </a:r>
            <a:r>
              <a:rPr lang="en-US" dirty="0"/>
              <a:t>I</a:t>
            </a:r>
            <a:r>
              <a:rPr lang="en-MX" dirty="0"/>
              <a:t> could not distinguish well between front and backend development, now I understand why clean endpoint design and a well-structured database make everything else easier.</a:t>
            </a:r>
          </a:p>
        </p:txBody>
      </p:sp>
    </p:spTree>
    <p:extLst>
      <p:ext uri="{BB962C8B-B14F-4D97-AF65-F5344CB8AC3E}">
        <p14:creationId xmlns:p14="http://schemas.microsoft.com/office/powerpoint/2010/main" val="1794980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786D-9C23-37AC-60A5-9523367B7D4B}"/>
              </a:ext>
            </a:extLst>
          </p:cNvPr>
          <p:cNvSpPr>
            <a:spLocks noGrp="1"/>
          </p:cNvSpPr>
          <p:nvPr>
            <p:ph type="title"/>
          </p:nvPr>
        </p:nvSpPr>
        <p:spPr/>
        <p:txBody>
          <a:bodyPr/>
          <a:lstStyle/>
          <a:p>
            <a:r>
              <a:rPr lang="en-MX" dirty="0"/>
              <a:t>Individual Reflection – Aixa Mendoza</a:t>
            </a:r>
          </a:p>
        </p:txBody>
      </p:sp>
      <p:sp>
        <p:nvSpPr>
          <p:cNvPr id="3" name="Content Placeholder 2">
            <a:extLst>
              <a:ext uri="{FF2B5EF4-FFF2-40B4-BE49-F238E27FC236}">
                <a16:creationId xmlns:a16="http://schemas.microsoft.com/office/drawing/2014/main" id="{D37439F6-EFCD-9081-7F09-F2C9D639C147}"/>
              </a:ext>
            </a:extLst>
          </p:cNvPr>
          <p:cNvSpPr>
            <a:spLocks noGrp="1"/>
          </p:cNvSpPr>
          <p:nvPr>
            <p:ph idx="1"/>
          </p:nvPr>
        </p:nvSpPr>
        <p:spPr/>
        <p:txBody>
          <a:bodyPr/>
          <a:lstStyle/>
          <a:p>
            <a:r>
              <a:rPr lang="en-MX" dirty="0"/>
              <a:t>Building the web dashboard gave me a real understanding of what frontend development actually involves, not just making things look good, but structuring pages so they communicate clearly with a backend and respond to different user roles. I also took on a lot of the team organization work, and I learned that keeping a team aligned on tasks and deadlines is its own kind of engineering. Clear communication and shared ownership of the project were what kept us moving forward consistently.</a:t>
            </a:r>
          </a:p>
          <a:p>
            <a:pPr marL="0" indent="0">
              <a:buNone/>
            </a:pPr>
            <a:endParaRPr lang="en-MX" dirty="0"/>
          </a:p>
        </p:txBody>
      </p:sp>
    </p:spTree>
    <p:extLst>
      <p:ext uri="{BB962C8B-B14F-4D97-AF65-F5344CB8AC3E}">
        <p14:creationId xmlns:p14="http://schemas.microsoft.com/office/powerpoint/2010/main" val="2771022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658</Words>
  <Application>Microsoft Macintosh PowerPoint</Application>
  <PresentationFormat>Widescreen</PresentationFormat>
  <Paragraphs>21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Group Reflection Software Construction and Decision Making</vt:lpstr>
      <vt:lpstr>Our Strategy</vt:lpstr>
      <vt:lpstr>Challenges and how we solved them</vt:lpstr>
      <vt:lpstr>Key Lessons Learned </vt:lpstr>
      <vt:lpstr>Individual Reflection – Oscar Lara</vt:lpstr>
      <vt:lpstr>Individual Reflection – Emilio Lara</vt:lpstr>
      <vt:lpstr>Individual Reflection – Aixa Mendoza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Oscar Lara</dc:creator>
  <cp:lastModifiedBy>Oscar Lara</cp:lastModifiedBy>
  <cp:revision>4</cp:revision>
  <dcterms:created xsi:type="dcterms:W3CDTF">2026-06-12T19:50:05Z</dcterms:created>
  <dcterms:modified xsi:type="dcterms:W3CDTF">2026-06-12T23:53:42Z</dcterms:modified>
</cp:coreProperties>
</file>